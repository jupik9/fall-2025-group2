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3" d="100"/>
          <a:sy n="93" d="100"/>
        </p:scale>
        <p:origin x="520" y="5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6c8e56c0737d13bb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6c8e56c0737d13bb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a55c5a52a8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a55c5a52a8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a55c5a52a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a55c5a52a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9b84c68aa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9b84c68aa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44f02b2665cf678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344f02b2665cf678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9c0db11cc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9c0db11cc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18cef1e44005f32c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18cef1e44005f32c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a668d547d3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a668d547d3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a668d547d3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a668d547d3_0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a668d547d3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3a668d547d3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acea752d78_1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acea752d78_1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a668d547d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a668d547d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86381b0667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386381b0667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9c0db11ccf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9c0db11ccf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44f02b2665cf678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344f02b2665cf678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2275"/>
            <a:ext cx="9144000" cy="5148051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>
            <a:spLocks noGrp="1"/>
          </p:cNvSpPr>
          <p:nvPr>
            <p:ph type="ctrTitle"/>
          </p:nvPr>
        </p:nvSpPr>
        <p:spPr>
          <a:xfrm>
            <a:off x="182450" y="165770"/>
            <a:ext cx="3809100" cy="276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4380" b="1">
                <a:solidFill>
                  <a:srgbClr val="FFFFFF"/>
                </a:solidFill>
              </a:rPr>
              <a:t>Capstone Final</a:t>
            </a:r>
            <a:endParaRPr sz="4380" b="1"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4380" b="1">
                <a:solidFill>
                  <a:srgbClr val="FFFFFF"/>
                </a:solidFill>
              </a:rPr>
              <a:t>Presentation</a:t>
            </a:r>
            <a:endParaRPr sz="4380" b="1">
              <a:solidFill>
                <a:srgbClr val="FFFFFF"/>
              </a:solidFill>
            </a:endParaRPr>
          </a:p>
        </p:txBody>
      </p:sp>
      <p:sp>
        <p:nvSpPr>
          <p:cNvPr id="56" name="Google Shape;56;p13"/>
          <p:cNvSpPr txBox="1">
            <a:spLocks noGrp="1"/>
          </p:cNvSpPr>
          <p:nvPr>
            <p:ph type="subTitle" idx="1"/>
          </p:nvPr>
        </p:nvSpPr>
        <p:spPr>
          <a:xfrm>
            <a:off x="94088" y="3062538"/>
            <a:ext cx="3985800" cy="152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1C232"/>
                </a:solidFill>
              </a:rPr>
              <a:t>Jupiter Kang</a:t>
            </a:r>
            <a:endParaRPr>
              <a:solidFill>
                <a:srgbClr val="F1C232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1C232"/>
                </a:solidFill>
              </a:rPr>
              <a:t>Crystal Kao</a:t>
            </a:r>
            <a:endParaRPr>
              <a:solidFill>
                <a:srgbClr val="F1C232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1C232"/>
                </a:solidFill>
              </a:rPr>
              <a:t>Alonso Romero</a:t>
            </a:r>
            <a:endParaRPr>
              <a:solidFill>
                <a:srgbClr val="F1C232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" y="-2307"/>
            <a:ext cx="9144000" cy="5148106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 txBox="1">
            <a:spLocks noGrp="1"/>
          </p:cNvSpPr>
          <p:nvPr>
            <p:ph type="title"/>
          </p:nvPr>
        </p:nvSpPr>
        <p:spPr>
          <a:xfrm>
            <a:off x="3780225" y="0"/>
            <a:ext cx="5048100" cy="108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b="1">
                <a:solidFill>
                  <a:srgbClr val="FFFFFF"/>
                </a:solidFill>
              </a:rPr>
              <a:t>Purpose</a:t>
            </a:r>
            <a:endParaRPr sz="3200" b="1">
              <a:solidFill>
                <a:srgbClr val="FFFFFF"/>
              </a:solidFill>
            </a:endParaRPr>
          </a:p>
        </p:txBody>
      </p:sp>
      <p:sp>
        <p:nvSpPr>
          <p:cNvPr id="63" name="Google Shape;63;p14"/>
          <p:cNvSpPr txBox="1">
            <a:spLocks noGrp="1"/>
          </p:cNvSpPr>
          <p:nvPr>
            <p:ph type="body" idx="1"/>
          </p:nvPr>
        </p:nvSpPr>
        <p:spPr>
          <a:xfrm>
            <a:off x="3780225" y="1441900"/>
            <a:ext cx="5363700" cy="360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457200" lvl="0" indent="-299085" algn="l" rtl="0">
              <a:spcBef>
                <a:spcPts val="0"/>
              </a:spcBef>
              <a:spcAft>
                <a:spcPts val="0"/>
              </a:spcAft>
              <a:buSzPct val="100000"/>
              <a:buChar char="-"/>
            </a:pPr>
            <a:r>
              <a:rPr lang="en"/>
              <a:t>Food waste in U.S. public schools results in 530,000 tons of food discarded annually, equalling $1.2 billion in losses. </a:t>
            </a:r>
            <a:endParaRPr/>
          </a:p>
          <a:p>
            <a:pPr marL="457200" lvl="0" indent="-299085" algn="l" rtl="0">
              <a:spcBef>
                <a:spcPts val="0"/>
              </a:spcBef>
              <a:spcAft>
                <a:spcPts val="0"/>
              </a:spcAft>
              <a:buSzPct val="100000"/>
              <a:buChar char="-"/>
            </a:pPr>
            <a:r>
              <a:rPr lang="en"/>
              <a:t>Fairfax County Public Schools (FCPS) in Virginia seeks to address this issue by leveraging data-driven insights to optimize their food service operations.</a:t>
            </a:r>
            <a:endParaRPr/>
          </a:p>
          <a:p>
            <a:pPr marL="457200" lvl="0" indent="-299085" algn="l" rtl="0">
              <a:spcBef>
                <a:spcPts val="0"/>
              </a:spcBef>
              <a:spcAft>
                <a:spcPts val="0"/>
              </a:spcAft>
              <a:buSzPct val="100000"/>
              <a:buChar char="-"/>
            </a:pPr>
            <a:r>
              <a:rPr lang="en"/>
              <a:t>Data from March 2025 - May 2025 on all FCPS was provided</a:t>
            </a:r>
            <a:endParaRPr/>
          </a:p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endParaRPr/>
          </a:p>
          <a:p>
            <a:pPr marL="457200" lvl="0" indent="-299085" algn="l" rtl="0">
              <a:spcBef>
                <a:spcPts val="1200"/>
              </a:spcBef>
              <a:spcAft>
                <a:spcPts val="0"/>
              </a:spcAft>
              <a:buSzPct val="100000"/>
              <a:buChar char="-"/>
            </a:pPr>
            <a:r>
              <a:rPr lang="en" b="1"/>
              <a:t>Goal:</a:t>
            </a:r>
            <a:endParaRPr b="1"/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 recommendation list of foods in order to optimize the spending by creating a customized budget that is more efficient and data driven, with breakdowns by region, school level, and individual schools.</a:t>
            </a:r>
            <a:endParaRPr/>
          </a:p>
          <a:p>
            <a:pPr marL="457200" lvl="0" indent="-299085" algn="l" rtl="0">
              <a:spcBef>
                <a:spcPts val="1200"/>
              </a:spcBef>
              <a:spcAft>
                <a:spcPts val="0"/>
              </a:spcAft>
              <a:buSzPct val="100000"/>
              <a:buChar char="-"/>
            </a:pPr>
            <a:r>
              <a:rPr lang="en" b="1"/>
              <a:t>Conclusion:</a:t>
            </a:r>
            <a:endParaRPr b="1"/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optimization model proposes $1,825,539.30 in savings if items are acquired according to suggested quantities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/>
        </p:nvSpPr>
        <p:spPr>
          <a:xfrm>
            <a:off x="825" y="10850"/>
            <a:ext cx="9144000" cy="646200"/>
          </a:xfrm>
          <a:prstGeom prst="rect">
            <a:avLst/>
          </a:prstGeom>
          <a:solidFill>
            <a:srgbClr val="006982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b="1">
                <a:solidFill>
                  <a:schemeClr val="lt1"/>
                </a:solidFill>
              </a:rPr>
              <a:t>Data</a:t>
            </a:r>
            <a:endParaRPr sz="3200" b="1">
              <a:solidFill>
                <a:schemeClr val="lt1"/>
              </a:solidFill>
            </a:endParaRPr>
          </a:p>
        </p:txBody>
      </p:sp>
      <p:sp>
        <p:nvSpPr>
          <p:cNvPr id="69" name="Google Shape;69;p15"/>
          <p:cNvSpPr txBox="1">
            <a:spLocks noGrp="1"/>
          </p:cNvSpPr>
          <p:nvPr>
            <p:ph type="body" idx="1"/>
          </p:nvPr>
        </p:nvSpPr>
        <p:spPr>
          <a:xfrm>
            <a:off x="0" y="1307400"/>
            <a:ext cx="42909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marL="457200" lvl="0" indent="-299085" algn="l" rtl="0">
              <a:spcBef>
                <a:spcPts val="0"/>
              </a:spcBef>
              <a:spcAft>
                <a:spcPts val="0"/>
              </a:spcAft>
              <a:buSzPct val="100000"/>
              <a:buChar char="-"/>
            </a:pPr>
            <a:r>
              <a:rPr lang="en"/>
              <a:t>Data_breakfast.csv / Data_lunch.csv</a:t>
            </a:r>
            <a:endParaRPr/>
          </a:p>
          <a:p>
            <a:pPr marL="914400" lvl="0" indent="-299085" algn="l" rtl="0">
              <a:spcBef>
                <a:spcPts val="0"/>
              </a:spcBef>
              <a:spcAft>
                <a:spcPts val="0"/>
              </a:spcAft>
              <a:buSzPct val="100000"/>
              <a:buChar char="-"/>
            </a:pPr>
            <a:r>
              <a:rPr lang="en"/>
              <a:t>Date Range: May 2025</a:t>
            </a:r>
            <a:endParaRPr/>
          </a:p>
          <a:p>
            <a:pPr marL="914400" lvl="0" indent="-299085" algn="l" rtl="0">
              <a:spcBef>
                <a:spcPts val="0"/>
              </a:spcBef>
              <a:spcAft>
                <a:spcPts val="0"/>
              </a:spcAft>
              <a:buSzPct val="100000"/>
              <a:buChar char="-"/>
            </a:pPr>
            <a:r>
              <a:rPr lang="en"/>
              <a:t>Data size: 191,757 rows / 20 columns</a:t>
            </a:r>
            <a:endParaRPr/>
          </a:p>
          <a:p>
            <a:pPr marL="914400" lvl="0" indent="-299085" algn="l" rtl="0">
              <a:spcBef>
                <a:spcPts val="0"/>
              </a:spcBef>
              <a:spcAft>
                <a:spcPts val="0"/>
              </a:spcAft>
              <a:buSzPct val="100000"/>
              <a:buChar char="-"/>
            </a:pPr>
            <a:r>
              <a:rPr lang="en"/>
              <a:t>190 schools </a:t>
            </a:r>
            <a:endParaRPr/>
          </a:p>
          <a:p>
            <a:pPr marL="914400" lvl="0" indent="-299085" algn="l" rtl="0">
              <a:spcBef>
                <a:spcPts val="0"/>
              </a:spcBef>
              <a:spcAft>
                <a:spcPts val="0"/>
              </a:spcAft>
              <a:buSzPct val="100000"/>
              <a:buChar char="-"/>
            </a:pPr>
            <a:r>
              <a:rPr lang="en"/>
              <a:t>411 distinct food items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457200" lvl="0" indent="-299085" algn="l" rtl="0">
              <a:spcBef>
                <a:spcPts val="1200"/>
              </a:spcBef>
              <a:spcAft>
                <a:spcPts val="0"/>
              </a:spcAft>
              <a:buSzPct val="100000"/>
              <a:buChar char="-"/>
            </a:pPr>
            <a:r>
              <a:rPr lang="en"/>
              <a:t>Other data</a:t>
            </a:r>
            <a:endParaRPr/>
          </a:p>
          <a:p>
            <a:pPr marL="914400" lvl="0" indent="-299085" algn="l" rtl="0">
              <a:spcBef>
                <a:spcPts val="0"/>
              </a:spcBef>
              <a:spcAft>
                <a:spcPts val="0"/>
              </a:spcAft>
              <a:buSzPct val="100000"/>
              <a:buChar char="-"/>
            </a:pPr>
            <a:r>
              <a:rPr lang="en"/>
              <a:t>data_breakfast_with_coordinates / lunch</a:t>
            </a:r>
            <a:endParaRPr/>
          </a:p>
          <a:p>
            <a:pPr marL="1371600" lvl="1" indent="-299085" algn="l" rtl="0">
              <a:spcBef>
                <a:spcPts val="0"/>
              </a:spcBef>
              <a:spcAft>
                <a:spcPts val="0"/>
              </a:spcAft>
              <a:buSzPct val="100000"/>
              <a:buChar char="-"/>
            </a:pPr>
            <a:r>
              <a:rPr lang="en"/>
              <a:t>Coordinate data, region, level</a:t>
            </a:r>
            <a:endParaRPr/>
          </a:p>
          <a:p>
            <a:pPr marL="914400" lvl="0" indent="-299085" algn="l" rtl="0">
              <a:spcBef>
                <a:spcPts val="0"/>
              </a:spcBef>
              <a:spcAft>
                <a:spcPts val="0"/>
              </a:spcAft>
              <a:buSzPct val="100000"/>
              <a:buChar char="-"/>
            </a:pPr>
            <a:r>
              <a:rPr lang="en"/>
              <a:t>fcps_nutrition_values</a:t>
            </a:r>
            <a:endParaRPr/>
          </a:p>
          <a:p>
            <a:pPr marL="1371600" lvl="1" indent="-299085" algn="l" rtl="0">
              <a:spcBef>
                <a:spcPts val="0"/>
              </a:spcBef>
              <a:spcAft>
                <a:spcPts val="0"/>
              </a:spcAft>
              <a:buSzPct val="100000"/>
              <a:buChar char="-"/>
            </a:pPr>
            <a:r>
              <a:rPr lang="en"/>
              <a:t>Nutrition data for each item (calories, sugar, vitamins, etc.)</a:t>
            </a:r>
            <a:endParaRPr/>
          </a:p>
          <a:p>
            <a:pPr marL="914400" lvl="0" indent="-299085" algn="l" rtl="0">
              <a:spcBef>
                <a:spcPts val="0"/>
              </a:spcBef>
              <a:spcAft>
                <a:spcPts val="0"/>
              </a:spcAft>
              <a:buSzPct val="100000"/>
              <a:buChar char="-"/>
            </a:pPr>
            <a:r>
              <a:rPr lang="en"/>
              <a:t>2022-2025 Fairfax County School Student Count</a:t>
            </a:r>
            <a:endParaRPr/>
          </a:p>
          <a:p>
            <a:pPr marL="1371600" lvl="1" indent="-299085" algn="l" rtl="0">
              <a:spcBef>
                <a:spcPts val="0"/>
              </a:spcBef>
              <a:spcAft>
                <a:spcPts val="0"/>
              </a:spcAft>
              <a:buSzPct val="100000"/>
              <a:buChar char="-"/>
            </a:pPr>
            <a:r>
              <a:rPr lang="en"/>
              <a:t>Count of students by school per school year</a:t>
            </a:r>
            <a:endParaRPr/>
          </a:p>
        </p:txBody>
      </p:sp>
      <p:pic>
        <p:nvPicPr>
          <p:cNvPr id="70" name="Google Shape;70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91575" y="1366750"/>
            <a:ext cx="4728899" cy="3060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6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77" name="Google Shape;77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50" y="0"/>
            <a:ext cx="9135893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 txBox="1">
            <a:spLocks noGrp="1"/>
          </p:cNvSpPr>
          <p:nvPr>
            <p:ph type="title"/>
          </p:nvPr>
        </p:nvSpPr>
        <p:spPr>
          <a:xfrm>
            <a:off x="311700" y="166970"/>
            <a:ext cx="8619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3200" b="1">
                <a:solidFill>
                  <a:schemeClr val="lt1"/>
                </a:solidFill>
              </a:rPr>
              <a:t>Methodology</a:t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311700" y="1389600"/>
            <a:ext cx="3000000" cy="158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Steps:</a:t>
            </a:r>
            <a:endParaRPr sz="1200">
              <a:solidFill>
                <a:schemeClr val="dk2"/>
              </a:solidFill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200"/>
              <a:buAutoNum type="arabicPeriod"/>
            </a:pPr>
            <a:r>
              <a:rPr lang="en" sz="1200">
                <a:solidFill>
                  <a:schemeClr val="dk2"/>
                </a:solidFill>
              </a:rPr>
              <a:t>Exploratory Data Analysis</a:t>
            </a:r>
            <a:endParaRPr sz="1200">
              <a:solidFill>
                <a:schemeClr val="dk2"/>
              </a:solidFill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AutoNum type="arabicPeriod"/>
            </a:pPr>
            <a:r>
              <a:rPr lang="en" sz="1200">
                <a:solidFill>
                  <a:schemeClr val="dk2"/>
                </a:solidFill>
              </a:rPr>
              <a:t>Popularity Analysis</a:t>
            </a:r>
            <a:endParaRPr sz="1200">
              <a:solidFill>
                <a:schemeClr val="dk2"/>
              </a:solidFill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AutoNum type="arabicPeriod"/>
            </a:pPr>
            <a:r>
              <a:rPr lang="en" sz="1200">
                <a:solidFill>
                  <a:schemeClr val="dk2"/>
                </a:solidFill>
              </a:rPr>
              <a:t>Optimization of Budget</a:t>
            </a:r>
            <a:endParaRPr sz="1200">
              <a:solidFill>
                <a:schemeClr val="dk2"/>
              </a:solidFill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AutoNum type="arabicPeriod"/>
            </a:pPr>
            <a:r>
              <a:rPr lang="en" sz="1200">
                <a:solidFill>
                  <a:schemeClr val="dk2"/>
                </a:solidFill>
              </a:rPr>
              <a:t>Regression for Predictability</a:t>
            </a:r>
            <a:endParaRPr sz="1200">
              <a:solidFill>
                <a:schemeClr val="dk2"/>
              </a:solidFill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AutoNum type="arabicPeriod"/>
            </a:pPr>
            <a:r>
              <a:rPr lang="en" sz="1200">
                <a:solidFill>
                  <a:schemeClr val="dk2"/>
                </a:solidFill>
              </a:rPr>
              <a:t>Time series analysis and LSTM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/>
        </p:nvSpPr>
        <p:spPr>
          <a:xfrm>
            <a:off x="825" y="10850"/>
            <a:ext cx="9144000" cy="646200"/>
          </a:xfrm>
          <a:prstGeom prst="rect">
            <a:avLst/>
          </a:prstGeom>
          <a:solidFill>
            <a:srgbClr val="006982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b="1">
                <a:solidFill>
                  <a:schemeClr val="lt1"/>
                </a:solidFill>
              </a:rPr>
              <a:t>Exploratory Data Analysis</a:t>
            </a:r>
            <a:endParaRPr sz="3200" b="1">
              <a:solidFill>
                <a:schemeClr val="lt1"/>
              </a:solidFill>
            </a:endParaRPr>
          </a:p>
        </p:txBody>
      </p:sp>
      <p:pic>
        <p:nvPicPr>
          <p:cNvPr id="85" name="Google Shape;85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3750" y="987054"/>
            <a:ext cx="3298473" cy="1955247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71975" y="987050"/>
            <a:ext cx="3298468" cy="1955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7" name="Google Shape;87;p1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03751" y="3058976"/>
            <a:ext cx="3298473" cy="1955247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1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971976" y="3058976"/>
            <a:ext cx="3298473" cy="19552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8068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 txBox="1">
            <a:spLocks noGrp="1"/>
          </p:cNvSpPr>
          <p:nvPr>
            <p:ph type="title"/>
          </p:nvPr>
        </p:nvSpPr>
        <p:spPr>
          <a:xfrm>
            <a:off x="311700" y="243875"/>
            <a:ext cx="54633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Popularity</a:t>
            </a:r>
            <a:endParaRPr/>
          </a:p>
        </p:txBody>
      </p:sp>
      <p:sp>
        <p:nvSpPr>
          <p:cNvPr id="95" name="Google Shape;95;p18"/>
          <p:cNvSpPr txBox="1">
            <a:spLocks noGrp="1"/>
          </p:cNvSpPr>
          <p:nvPr>
            <p:ph type="body" idx="1"/>
          </p:nvPr>
        </p:nvSpPr>
        <p:spPr>
          <a:xfrm>
            <a:off x="311700" y="999575"/>
            <a:ext cx="5463300" cy="414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Char char="-"/>
            </a:pPr>
            <a:r>
              <a:rPr lang="en"/>
              <a:t>Based on consumption and amount left over/discarded</a:t>
            </a:r>
            <a:endParaRPr/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Char char="-"/>
            </a:pPr>
            <a:r>
              <a:rPr lang="en"/>
              <a:t>Consumption</a:t>
            </a:r>
            <a:endParaRPr/>
          </a:p>
          <a:p>
            <a:pPr marL="914400" lvl="1" indent="-304800" algn="l" rtl="0">
              <a:spcBef>
                <a:spcPts val="0"/>
              </a:spcBef>
              <a:spcAft>
                <a:spcPts val="0"/>
              </a:spcAft>
              <a:buSzPts val="1200"/>
              <a:buChar char="-"/>
            </a:pPr>
            <a:r>
              <a:rPr lang="en"/>
              <a:t>Used to rank popularity</a:t>
            </a:r>
            <a:endParaRPr/>
          </a:p>
          <a:p>
            <a:pPr marL="914400" lvl="1" indent="-304800" algn="l" rtl="0">
              <a:spcBef>
                <a:spcPts val="0"/>
              </a:spcBef>
              <a:spcAft>
                <a:spcPts val="0"/>
              </a:spcAft>
              <a:buSzPts val="1200"/>
              <a:buChar char="-"/>
            </a:pPr>
            <a:r>
              <a:rPr lang="en"/>
              <a:t>(Total Offered - Total Leftover) / Total Offered</a:t>
            </a:r>
            <a:endParaRPr/>
          </a:p>
          <a:p>
            <a:pPr marL="914400" lvl="1" indent="-304800" algn="l" rtl="0">
              <a:spcBef>
                <a:spcPts val="0"/>
              </a:spcBef>
              <a:spcAft>
                <a:spcPts val="0"/>
              </a:spcAft>
              <a:buSzPts val="1200"/>
              <a:buChar char="-"/>
            </a:pPr>
            <a:r>
              <a:rPr lang="en"/>
              <a:t>Results:</a:t>
            </a:r>
            <a:endParaRPr/>
          </a:p>
          <a:p>
            <a:pPr marL="1371600" lvl="2" indent="-304800" algn="l" rtl="0">
              <a:spcBef>
                <a:spcPts val="0"/>
              </a:spcBef>
              <a:spcAft>
                <a:spcPts val="0"/>
              </a:spcAft>
              <a:buSzPts val="1200"/>
              <a:buChar char="-"/>
            </a:pPr>
            <a:r>
              <a:rPr lang="en" b="1"/>
              <a:t>Breakfast: </a:t>
            </a:r>
            <a:r>
              <a:rPr lang="en"/>
              <a:t>Apple Juice, Orange Tangerine Juice, Mini Maple Pancakes, 1% White Milk, Bagel</a:t>
            </a:r>
            <a:endParaRPr/>
          </a:p>
          <a:p>
            <a:pPr marL="1371600" lvl="2" indent="-304800" algn="l" rtl="0">
              <a:spcBef>
                <a:spcPts val="0"/>
              </a:spcBef>
              <a:spcAft>
                <a:spcPts val="0"/>
              </a:spcAft>
              <a:buSzPts val="1200"/>
              <a:buChar char="-"/>
            </a:pPr>
            <a:r>
              <a:rPr lang="en" b="1"/>
              <a:t>Lunch: </a:t>
            </a:r>
            <a:r>
              <a:rPr lang="en"/>
              <a:t>Fat Free Chocolate Milk, Lettuce Blend Salad Mix, Ketchup Packets, Apple Slices, Ranch Dressing</a:t>
            </a:r>
            <a:endParaRPr/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Char char="-"/>
            </a:pPr>
            <a:r>
              <a:rPr lang="en"/>
              <a:t>Leftover Rate</a:t>
            </a:r>
            <a:endParaRPr/>
          </a:p>
          <a:p>
            <a:pPr marL="914400" lvl="1" indent="-304800" algn="l" rtl="0">
              <a:spcBef>
                <a:spcPts val="0"/>
              </a:spcBef>
              <a:spcAft>
                <a:spcPts val="0"/>
              </a:spcAft>
              <a:buSzPts val="1200"/>
              <a:buChar char="-"/>
            </a:pPr>
            <a:r>
              <a:rPr lang="en"/>
              <a:t>Identifies which items with the highest waste</a:t>
            </a:r>
            <a:endParaRPr/>
          </a:p>
          <a:p>
            <a:pPr marL="914400" lvl="1" indent="-304800" algn="l" rtl="0">
              <a:spcBef>
                <a:spcPts val="0"/>
              </a:spcBef>
              <a:spcAft>
                <a:spcPts val="0"/>
              </a:spcAft>
              <a:buSzPts val="1200"/>
              <a:buChar char="-"/>
            </a:pPr>
            <a:r>
              <a:rPr lang="en"/>
              <a:t>Total Leftover / Total Offered</a:t>
            </a:r>
            <a:endParaRPr/>
          </a:p>
          <a:p>
            <a:pPr marL="914400" lvl="1" indent="-304800" algn="l" rtl="0">
              <a:spcBef>
                <a:spcPts val="0"/>
              </a:spcBef>
              <a:spcAft>
                <a:spcPts val="0"/>
              </a:spcAft>
              <a:buSzPts val="1200"/>
              <a:buChar char="-"/>
            </a:pPr>
            <a:r>
              <a:rPr lang="en"/>
              <a:t>Results</a:t>
            </a:r>
            <a:endParaRPr/>
          </a:p>
          <a:p>
            <a:pPr marL="1371600" lvl="2" indent="-304800" algn="l" rtl="0">
              <a:spcBef>
                <a:spcPts val="0"/>
              </a:spcBef>
              <a:spcAft>
                <a:spcPts val="0"/>
              </a:spcAft>
              <a:buSzPts val="1200"/>
              <a:buChar char="-"/>
            </a:pPr>
            <a:r>
              <a:rPr lang="en" b="1"/>
              <a:t>Breakfast: </a:t>
            </a:r>
            <a:r>
              <a:rPr lang="en"/>
              <a:t>Fat Free Chocolate Milk (98.83%), Cereal Cinnamon Toasters (60.26%), Fat Free White Milk (53.49%)</a:t>
            </a:r>
            <a:endParaRPr/>
          </a:p>
          <a:p>
            <a:pPr marL="1371600" lvl="2" indent="-304800" algn="l" rtl="0">
              <a:spcBef>
                <a:spcPts val="0"/>
              </a:spcBef>
              <a:spcAft>
                <a:spcPts val="0"/>
              </a:spcAft>
              <a:buSzPts val="1200"/>
              <a:buChar char="-"/>
            </a:pPr>
            <a:r>
              <a:rPr lang="en" b="1"/>
              <a:t>Lunch: </a:t>
            </a:r>
            <a:r>
              <a:rPr lang="en"/>
              <a:t>Fat Free White Milk (60.63%), Lactose Free Milk (50.90%), 1% White Milk (50.83%)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50" y="0"/>
            <a:ext cx="9135893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9"/>
          <p:cNvSpPr txBox="1">
            <a:spLocks noGrp="1"/>
          </p:cNvSpPr>
          <p:nvPr>
            <p:ph type="title"/>
          </p:nvPr>
        </p:nvSpPr>
        <p:spPr>
          <a:xfrm>
            <a:off x="311700" y="166970"/>
            <a:ext cx="8619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3200" b="1">
                <a:solidFill>
                  <a:schemeClr val="lt1"/>
                </a:solidFill>
              </a:rPr>
              <a:t>Optimization</a:t>
            </a:r>
            <a:endParaRPr/>
          </a:p>
        </p:txBody>
      </p:sp>
      <p:sp>
        <p:nvSpPr>
          <p:cNvPr id="102" name="Google Shape;102;p19"/>
          <p:cNvSpPr txBox="1">
            <a:spLocks noGrp="1"/>
          </p:cNvSpPr>
          <p:nvPr>
            <p:ph type="body" idx="1"/>
          </p:nvPr>
        </p:nvSpPr>
        <p:spPr>
          <a:xfrm>
            <a:off x="311700" y="1232100"/>
            <a:ext cx="5487000" cy="391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 sz="1400"/>
              <a:t>Mixed-Integer Linear Programming</a:t>
            </a:r>
            <a:endParaRPr sz="140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 sz="1400"/>
              <a:t>Mathematical method used to determine the best possible outcome where the objective and constraints are linear but the variables </a:t>
            </a:r>
            <a:r>
              <a:rPr lang="en" sz="1400" b="1"/>
              <a:t>must be integer values.</a:t>
            </a:r>
            <a:endParaRPr sz="140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 sz="1400"/>
              <a:t>Components of the model:</a:t>
            </a:r>
            <a:endParaRPr sz="140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 sz="1400" b="1"/>
              <a:t>Decision Variables: </a:t>
            </a:r>
            <a:r>
              <a:rPr lang="en" sz="1400"/>
              <a:t>The unknown quantities that the model determines to solve the problem. Represents discrete counts and cannot be fractions.</a:t>
            </a:r>
            <a:endParaRPr sz="140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 sz="1400"/>
              <a:t>“How many food items do we produce?”</a:t>
            </a:r>
            <a:endParaRPr sz="140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 sz="1400" b="1"/>
              <a:t>Objective Function: </a:t>
            </a:r>
            <a:r>
              <a:rPr lang="en" sz="1400"/>
              <a:t>Linear mathematical formula that defines the goal of the model.</a:t>
            </a:r>
            <a:endParaRPr sz="140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 sz="1400" b="1"/>
              <a:t>Linear Constraints: </a:t>
            </a:r>
            <a:r>
              <a:rPr lang="en" sz="1400"/>
              <a:t>Restrictions or logical limits placed on the decision variables.</a:t>
            </a:r>
            <a:endParaRPr sz="140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 sz="1400" b="1"/>
              <a:t>Feasible Region: </a:t>
            </a:r>
            <a:r>
              <a:rPr lang="en" sz="1400"/>
              <a:t>Set of all possible solutions that satisfies every constraint in the model.</a:t>
            </a:r>
            <a:endParaRPr sz="14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" y="-2307"/>
            <a:ext cx="9144000" cy="5148106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0"/>
          <p:cNvSpPr txBox="1">
            <a:spLocks noGrp="1"/>
          </p:cNvSpPr>
          <p:nvPr>
            <p:ph type="title"/>
          </p:nvPr>
        </p:nvSpPr>
        <p:spPr>
          <a:xfrm>
            <a:off x="3780225" y="0"/>
            <a:ext cx="5048100" cy="108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b="1">
                <a:solidFill>
                  <a:srgbClr val="FFFFFF"/>
                </a:solidFill>
              </a:rPr>
              <a:t>Optimization: </a:t>
            </a:r>
            <a:endParaRPr sz="3200" b="1">
              <a:solidFill>
                <a:srgbClr val="FFFFFF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b="1">
                <a:solidFill>
                  <a:srgbClr val="FFFFFF"/>
                </a:solidFill>
              </a:rPr>
              <a:t>Objective Function</a:t>
            </a:r>
            <a:endParaRPr sz="3200" b="1">
              <a:solidFill>
                <a:srgbClr val="FFFFFF"/>
              </a:solidFill>
            </a:endParaRPr>
          </a:p>
        </p:txBody>
      </p:sp>
      <p:pic>
        <p:nvPicPr>
          <p:cNvPr id="109" name="Google Shape;109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780300" y="2473052"/>
            <a:ext cx="5363701" cy="25793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20" title="Screenshot 2025-12-02 at 7.22.56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414250" y="1458550"/>
            <a:ext cx="4017275" cy="976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Google Shape;115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" y="-2307"/>
            <a:ext cx="9144000" cy="5148106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21"/>
          <p:cNvSpPr txBox="1">
            <a:spLocks noGrp="1"/>
          </p:cNvSpPr>
          <p:nvPr>
            <p:ph type="title"/>
          </p:nvPr>
        </p:nvSpPr>
        <p:spPr>
          <a:xfrm>
            <a:off x="3780225" y="0"/>
            <a:ext cx="5048100" cy="108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b="1">
                <a:solidFill>
                  <a:srgbClr val="FFFFFF"/>
                </a:solidFill>
              </a:rPr>
              <a:t>Optimization: </a:t>
            </a:r>
            <a:endParaRPr sz="3200" b="1">
              <a:solidFill>
                <a:srgbClr val="FFFFFF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b="1">
                <a:solidFill>
                  <a:srgbClr val="FFFFFF"/>
                </a:solidFill>
              </a:rPr>
              <a:t>Linear Constraints</a:t>
            </a:r>
            <a:endParaRPr sz="3200" b="1">
              <a:solidFill>
                <a:srgbClr val="FFFFFF"/>
              </a:solidFill>
            </a:endParaRPr>
          </a:p>
        </p:txBody>
      </p:sp>
      <p:sp>
        <p:nvSpPr>
          <p:cNvPr id="117" name="Google Shape;117;p21"/>
          <p:cNvSpPr txBox="1"/>
          <p:nvPr/>
        </p:nvSpPr>
        <p:spPr>
          <a:xfrm>
            <a:off x="3866875" y="1331600"/>
            <a:ext cx="5048100" cy="366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700"/>
              <a:buChar char="-"/>
            </a:pPr>
            <a:r>
              <a:rPr lang="en" sz="1700">
                <a:solidFill>
                  <a:schemeClr val="dk2"/>
                </a:solidFill>
              </a:rPr>
              <a:t>Financial Constraint</a:t>
            </a:r>
            <a:endParaRPr sz="1700">
              <a:solidFill>
                <a:schemeClr val="dk2"/>
              </a:solidFill>
            </a:endParaRPr>
          </a:p>
          <a:p>
            <a:pPr marL="914400" lvl="1" indent="-3365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700"/>
              <a:buChar char="-"/>
            </a:pPr>
            <a:r>
              <a:rPr lang="en" sz="1700">
                <a:solidFill>
                  <a:schemeClr val="dk2"/>
                </a:solidFill>
              </a:rPr>
              <a:t>Enforces a specific budget range for each individual school. Prevents the model from “starving” one school to feed another just to save money</a:t>
            </a:r>
            <a:endParaRPr sz="1700">
              <a:solidFill>
                <a:schemeClr val="dk2"/>
              </a:solidFill>
            </a:endParaRPr>
          </a:p>
          <a:p>
            <a:pPr marL="914400" lvl="1" indent="-3683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200"/>
              <a:buChar char="-"/>
            </a:pPr>
            <a:r>
              <a:rPr lang="en" sz="1700">
                <a:solidFill>
                  <a:schemeClr val="dk2"/>
                </a:solidFill>
              </a:rPr>
              <a:t>Overall Annual Budget: $139,144,760</a:t>
            </a:r>
            <a:endParaRPr sz="2200">
              <a:solidFill>
                <a:schemeClr val="dk2"/>
              </a:solidFill>
            </a:endParaRPr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700"/>
              <a:buChar char="-"/>
            </a:pPr>
            <a:r>
              <a:rPr lang="en" sz="1700">
                <a:solidFill>
                  <a:schemeClr val="dk2"/>
                </a:solidFill>
              </a:rPr>
              <a:t>Production Bounds</a:t>
            </a:r>
            <a:endParaRPr sz="1700">
              <a:solidFill>
                <a:schemeClr val="dk2"/>
              </a:solidFill>
            </a:endParaRPr>
          </a:p>
          <a:p>
            <a:pPr marL="914400" lvl="1" indent="-3365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700"/>
              <a:buChar char="-"/>
            </a:pPr>
            <a:r>
              <a:rPr lang="en" sz="1700">
                <a:solidFill>
                  <a:schemeClr val="dk2"/>
                </a:solidFill>
              </a:rPr>
              <a:t>Prevents the model to produce unrealistic amounts, must stay with a range based on historical demand</a:t>
            </a:r>
            <a:endParaRPr sz="1700">
              <a:solidFill>
                <a:schemeClr val="dk2"/>
              </a:solidFill>
            </a:endParaRPr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700"/>
              <a:buChar char="-"/>
            </a:pPr>
            <a:r>
              <a:rPr lang="en" sz="1700">
                <a:solidFill>
                  <a:schemeClr val="dk2"/>
                </a:solidFill>
              </a:rPr>
              <a:t>Integer Constraint</a:t>
            </a:r>
            <a:endParaRPr sz="1700">
              <a:solidFill>
                <a:schemeClr val="dk2"/>
              </a:solidFill>
            </a:endParaRPr>
          </a:p>
          <a:p>
            <a:pPr marL="914400" lvl="1" indent="-3365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700"/>
              <a:buChar char="-"/>
            </a:pPr>
            <a:r>
              <a:rPr lang="en" sz="1700">
                <a:solidFill>
                  <a:schemeClr val="dk2"/>
                </a:solidFill>
              </a:rPr>
              <a:t>Prevents solver from returning fractions</a:t>
            </a:r>
            <a:endParaRPr sz="17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" y="-2307"/>
            <a:ext cx="9144000" cy="5148106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22"/>
          <p:cNvSpPr txBox="1">
            <a:spLocks noGrp="1"/>
          </p:cNvSpPr>
          <p:nvPr>
            <p:ph type="title"/>
          </p:nvPr>
        </p:nvSpPr>
        <p:spPr>
          <a:xfrm>
            <a:off x="3780225" y="0"/>
            <a:ext cx="5048100" cy="108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b="1">
                <a:solidFill>
                  <a:srgbClr val="FFFFFF"/>
                </a:solidFill>
              </a:rPr>
              <a:t>Optimization: </a:t>
            </a:r>
            <a:endParaRPr sz="3200" b="1">
              <a:solidFill>
                <a:srgbClr val="FFFFFF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b="1">
                <a:solidFill>
                  <a:srgbClr val="FFFFFF"/>
                </a:solidFill>
              </a:rPr>
              <a:t>Feasible Region</a:t>
            </a:r>
            <a:endParaRPr sz="3200" b="1">
              <a:solidFill>
                <a:srgbClr val="FFFFFF"/>
              </a:solidFill>
            </a:endParaRPr>
          </a:p>
        </p:txBody>
      </p:sp>
      <p:sp>
        <p:nvSpPr>
          <p:cNvPr id="124" name="Google Shape;124;p22"/>
          <p:cNvSpPr txBox="1"/>
          <p:nvPr/>
        </p:nvSpPr>
        <p:spPr>
          <a:xfrm>
            <a:off x="3866875" y="1331600"/>
            <a:ext cx="5048100" cy="366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700"/>
              <a:buChar char="-"/>
            </a:pPr>
            <a:r>
              <a:rPr lang="en" sz="1700">
                <a:solidFill>
                  <a:schemeClr val="dk2"/>
                </a:solidFill>
              </a:rPr>
              <a:t>Financial Constraint</a:t>
            </a:r>
            <a:endParaRPr sz="1700">
              <a:solidFill>
                <a:schemeClr val="dk2"/>
              </a:solidFill>
            </a:endParaRPr>
          </a:p>
          <a:p>
            <a:pPr marL="914400" lvl="1" indent="-3365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700"/>
              <a:buChar char="-"/>
            </a:pPr>
            <a:r>
              <a:rPr lang="en" sz="1700">
                <a:solidFill>
                  <a:schemeClr val="dk2"/>
                </a:solidFill>
              </a:rPr>
              <a:t>The total cost must be less than the school’s allocated budget</a:t>
            </a:r>
            <a:endParaRPr sz="1700">
              <a:solidFill>
                <a:schemeClr val="dk2"/>
              </a:solidFill>
            </a:endParaRPr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700"/>
              <a:buChar char="-"/>
            </a:pPr>
            <a:r>
              <a:rPr lang="en" sz="1700">
                <a:solidFill>
                  <a:schemeClr val="dk2"/>
                </a:solidFill>
              </a:rPr>
              <a:t>Production Bounds</a:t>
            </a:r>
            <a:endParaRPr sz="1700">
              <a:solidFill>
                <a:schemeClr val="dk2"/>
              </a:solidFill>
            </a:endParaRPr>
          </a:p>
          <a:p>
            <a:pPr marL="914400" lvl="1" indent="-3365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700"/>
              <a:buChar char="-"/>
            </a:pPr>
            <a:r>
              <a:rPr lang="en" sz="1700">
                <a:solidFill>
                  <a:schemeClr val="dk2"/>
                </a:solidFill>
              </a:rPr>
              <a:t>Size-based production bounds</a:t>
            </a:r>
            <a:endParaRPr sz="1700">
              <a:solidFill>
                <a:schemeClr val="dk2"/>
              </a:solidFill>
            </a:endParaRPr>
          </a:p>
          <a:p>
            <a:pPr marL="914400" lvl="1" indent="-3365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700"/>
              <a:buChar char="-"/>
            </a:pPr>
            <a:r>
              <a:rPr lang="en" sz="1700">
                <a:solidFill>
                  <a:schemeClr val="dk2"/>
                </a:solidFill>
              </a:rPr>
              <a:t>For example: For 1000-1499 =</a:t>
            </a:r>
            <a:endParaRPr sz="1700">
              <a:solidFill>
                <a:schemeClr val="dk2"/>
              </a:solidFill>
            </a:endParaRPr>
          </a:p>
          <a:p>
            <a:pPr marL="9144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chemeClr val="dk2"/>
                </a:solidFill>
              </a:rPr>
              <a:t>(0.90 * demand, 1.10 * demand)</a:t>
            </a:r>
            <a:endParaRPr sz="1700">
              <a:solidFill>
                <a:schemeClr val="dk2"/>
              </a:solidFill>
            </a:endParaRPr>
          </a:p>
          <a:p>
            <a:pPr marL="914400" lvl="1" indent="-3365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700"/>
              <a:buChar char="-"/>
            </a:pPr>
            <a:r>
              <a:rPr lang="en" sz="1700">
                <a:solidFill>
                  <a:schemeClr val="dk2"/>
                </a:solidFill>
              </a:rPr>
              <a:t>The model cannot produce fewer than 90 meals or more than 110 meals for example</a:t>
            </a:r>
            <a:endParaRPr sz="1700">
              <a:solidFill>
                <a:schemeClr val="dk2"/>
              </a:solidFill>
            </a:endParaRPr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700"/>
              <a:buChar char="-"/>
            </a:pPr>
            <a:r>
              <a:rPr lang="en" sz="1700">
                <a:solidFill>
                  <a:schemeClr val="dk2"/>
                </a:solidFill>
              </a:rPr>
              <a:t>Integrality</a:t>
            </a:r>
            <a:endParaRPr sz="1700">
              <a:solidFill>
                <a:schemeClr val="dk2"/>
              </a:solidFill>
            </a:endParaRPr>
          </a:p>
          <a:p>
            <a:pPr marL="914400" lvl="1" indent="-3365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700"/>
              <a:buChar char="-"/>
            </a:pPr>
            <a:r>
              <a:rPr lang="en" sz="1700">
                <a:solidFill>
                  <a:schemeClr val="dk2"/>
                </a:solidFill>
              </a:rPr>
              <a:t>Forces the solution to round up from one whole number to the next, ignoring all decimals</a:t>
            </a:r>
            <a:endParaRPr sz="17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9" name="Google Shape;129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8068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3"/>
          <p:cNvSpPr txBox="1">
            <a:spLocks noGrp="1"/>
          </p:cNvSpPr>
          <p:nvPr>
            <p:ph type="title"/>
          </p:nvPr>
        </p:nvSpPr>
        <p:spPr>
          <a:xfrm>
            <a:off x="311700" y="148925"/>
            <a:ext cx="5463300" cy="75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50"/>
              <a:t>Optimization: Results</a:t>
            </a:r>
            <a:endParaRPr sz="2850"/>
          </a:p>
        </p:txBody>
      </p:sp>
      <p:sp>
        <p:nvSpPr>
          <p:cNvPr id="131" name="Google Shape;131;p23"/>
          <p:cNvSpPr txBox="1">
            <a:spLocks noGrp="1"/>
          </p:cNvSpPr>
          <p:nvPr>
            <p:ph type="body" idx="1"/>
          </p:nvPr>
        </p:nvSpPr>
        <p:spPr>
          <a:xfrm>
            <a:off x="361500" y="3823175"/>
            <a:ext cx="5363700" cy="108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Char char="-"/>
            </a:pPr>
            <a:r>
              <a:rPr lang="en"/>
              <a:t>Financial Results</a:t>
            </a:r>
            <a:endParaRPr/>
          </a:p>
          <a:p>
            <a:pPr marL="914400" lvl="1" indent="-304800" algn="l" rtl="0">
              <a:spcBef>
                <a:spcPts val="0"/>
              </a:spcBef>
              <a:spcAft>
                <a:spcPts val="0"/>
              </a:spcAft>
              <a:buSzPts val="1200"/>
              <a:buChar char="-"/>
            </a:pPr>
            <a:r>
              <a:rPr lang="en"/>
              <a:t>Baseline (Actual) Annual Cost: $48,936,842.30</a:t>
            </a:r>
            <a:endParaRPr/>
          </a:p>
          <a:p>
            <a:pPr marL="914400" lvl="1" indent="-304800" algn="l" rtl="0">
              <a:spcBef>
                <a:spcPts val="0"/>
              </a:spcBef>
              <a:spcAft>
                <a:spcPts val="0"/>
              </a:spcAft>
              <a:buSzPts val="1200"/>
              <a:buChar char="-"/>
            </a:pPr>
            <a:r>
              <a:rPr lang="en"/>
              <a:t>Optimized Annual Food Cost:   $47,111,303.00</a:t>
            </a:r>
            <a:endParaRPr/>
          </a:p>
          <a:p>
            <a:pPr marL="914400" lvl="1" indent="-304800" algn="l" rtl="0">
              <a:spcBef>
                <a:spcPts val="0"/>
              </a:spcBef>
              <a:spcAft>
                <a:spcPts val="0"/>
              </a:spcAft>
              <a:buSzPts val="1200"/>
              <a:buChar char="-"/>
            </a:pPr>
            <a:r>
              <a:rPr lang="en" b="1"/>
              <a:t>Annual Savings:		       $  1,825,539.30</a:t>
            </a:r>
            <a:endParaRPr b="1"/>
          </a:p>
        </p:txBody>
      </p:sp>
      <p:pic>
        <p:nvPicPr>
          <p:cNvPr id="132" name="Google Shape;132;p23" title="overall_savings_bar_chart_baselin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7049" y="1051050"/>
            <a:ext cx="4567050" cy="2709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37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8068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4"/>
          <p:cNvSpPr txBox="1">
            <a:spLocks noGrp="1"/>
          </p:cNvSpPr>
          <p:nvPr>
            <p:ph type="title"/>
          </p:nvPr>
        </p:nvSpPr>
        <p:spPr>
          <a:xfrm>
            <a:off x="311700" y="148925"/>
            <a:ext cx="5463300" cy="75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50"/>
              <a:t>Optimization: Results</a:t>
            </a:r>
            <a:endParaRPr sz="2850"/>
          </a:p>
        </p:txBody>
      </p:sp>
      <p:pic>
        <p:nvPicPr>
          <p:cNvPr id="139" name="Google Shape;139;p24" title="Screenshot 2025-12-02 at 7.35.59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6975" y="2725475"/>
            <a:ext cx="2746177" cy="22972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24" title="newplot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11700" y="904625"/>
            <a:ext cx="3136649" cy="1801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Screenshot 2025-12-02 at 7.39.11 PM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448350" y="1545475"/>
            <a:ext cx="2949524" cy="26610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50" y="0"/>
            <a:ext cx="9135893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>
            <a:spLocks noGrp="1"/>
          </p:cNvSpPr>
          <p:nvPr>
            <p:ph type="title"/>
          </p:nvPr>
        </p:nvSpPr>
        <p:spPr>
          <a:xfrm>
            <a:off x="311700" y="166970"/>
            <a:ext cx="8619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3200" b="1">
                <a:solidFill>
                  <a:schemeClr val="lt1"/>
                </a:solidFill>
              </a:rPr>
              <a:t>Regression</a:t>
            </a:r>
            <a:endParaRPr/>
          </a:p>
        </p:txBody>
      </p:sp>
      <p:sp>
        <p:nvSpPr>
          <p:cNvPr id="148" name="Google Shape;148;p25"/>
          <p:cNvSpPr txBox="1">
            <a:spLocks noGrp="1"/>
          </p:cNvSpPr>
          <p:nvPr>
            <p:ph type="body" idx="1"/>
          </p:nvPr>
        </p:nvSpPr>
        <p:spPr>
          <a:xfrm>
            <a:off x="311700" y="1366750"/>
            <a:ext cx="5487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Char char="-"/>
            </a:pPr>
            <a:r>
              <a:rPr lang="en"/>
              <a:t>Meal_type = ‘milk’</a:t>
            </a:r>
            <a:endParaRPr/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457200" lvl="0" indent="-304800" algn="l" rtl="0">
              <a:spcBef>
                <a:spcPts val="1200"/>
              </a:spcBef>
              <a:spcAft>
                <a:spcPts val="0"/>
              </a:spcAft>
              <a:buSzPts val="1200"/>
              <a:buChar char="-"/>
            </a:pPr>
            <a:r>
              <a:rPr lang="en"/>
              <a:t>Predicting production cost</a:t>
            </a:r>
            <a:endParaRPr/>
          </a:p>
          <a:p>
            <a:pPr marL="914400" lvl="1" indent="-304800" algn="l" rtl="0">
              <a:spcBef>
                <a:spcPts val="0"/>
              </a:spcBef>
              <a:spcAft>
                <a:spcPts val="0"/>
              </a:spcAft>
              <a:buSzPts val="1200"/>
              <a:buChar char="-"/>
            </a:pPr>
            <a:r>
              <a:rPr lang="en"/>
              <a:t>Adjusted R²  = 0.997</a:t>
            </a:r>
            <a:endParaRPr/>
          </a:p>
          <a:p>
            <a:pPr marL="9144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457200" lvl="0" indent="-304800" algn="l" rtl="0">
              <a:spcBef>
                <a:spcPts val="1200"/>
              </a:spcBef>
              <a:spcAft>
                <a:spcPts val="0"/>
              </a:spcAft>
              <a:buSzPts val="1200"/>
              <a:buChar char="-"/>
            </a:pPr>
            <a:r>
              <a:rPr lang="en"/>
              <a:t>Predicting discarded cost</a:t>
            </a:r>
            <a:endParaRPr/>
          </a:p>
          <a:p>
            <a:pPr marL="914400" lvl="1" indent="-304800" algn="l" rtl="0">
              <a:spcBef>
                <a:spcPts val="0"/>
              </a:spcBef>
              <a:spcAft>
                <a:spcPts val="0"/>
              </a:spcAft>
              <a:buSzPts val="1200"/>
              <a:buChar char="-"/>
            </a:pPr>
            <a:r>
              <a:rPr lang="en"/>
              <a:t>Adjusted R²  = 0.638</a:t>
            </a:r>
            <a:endParaRPr/>
          </a:p>
          <a:p>
            <a:pPr marL="9144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457200" lvl="0" indent="-304800" algn="l" rtl="0">
              <a:spcBef>
                <a:spcPts val="1200"/>
              </a:spcBef>
              <a:spcAft>
                <a:spcPts val="0"/>
              </a:spcAft>
              <a:buSzPts val="1200"/>
              <a:buChar char="-"/>
            </a:pPr>
            <a:r>
              <a:rPr lang="en"/>
              <a:t>Predicting served reimbursable</a:t>
            </a:r>
            <a:endParaRPr/>
          </a:p>
          <a:p>
            <a:pPr marL="914400" lvl="1" indent="-304800" algn="l" rtl="0">
              <a:spcBef>
                <a:spcPts val="0"/>
              </a:spcBef>
              <a:spcAft>
                <a:spcPts val="0"/>
              </a:spcAft>
              <a:buSzPts val="1200"/>
              <a:buChar char="-"/>
            </a:pPr>
            <a:r>
              <a:rPr lang="en"/>
              <a:t>Adjusted R²  = 0.929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" name="Google Shape;153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8068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26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54633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Time Series</a:t>
            </a:r>
            <a:endParaRPr/>
          </a:p>
        </p:txBody>
      </p:sp>
      <p:pic>
        <p:nvPicPr>
          <p:cNvPr id="155" name="Google Shape;155;p26" title="Screenshot 2025-10-22 at 14.53.43.png"/>
          <p:cNvPicPr preferRelativeResize="0"/>
          <p:nvPr/>
        </p:nvPicPr>
        <p:blipFill rotWithShape="1">
          <a:blip r:embed="rId4">
            <a:alphaModFix/>
          </a:blip>
          <a:srcRect l="852"/>
          <a:stretch/>
        </p:blipFill>
        <p:spPr>
          <a:xfrm>
            <a:off x="130700" y="1640001"/>
            <a:ext cx="5742326" cy="2887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8068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2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54633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LSTM</a:t>
            </a:r>
            <a:endParaRPr/>
          </a:p>
        </p:txBody>
      </p:sp>
      <p:pic>
        <p:nvPicPr>
          <p:cNvPr id="162" name="Google Shape;162;p27" title="Screenshot 2025-10-22 at 15.04.35.png"/>
          <p:cNvPicPr preferRelativeResize="0"/>
          <p:nvPr/>
        </p:nvPicPr>
        <p:blipFill rotWithShape="1">
          <a:blip r:embed="rId4">
            <a:alphaModFix/>
          </a:blip>
          <a:srcRect l="10663" t="33935" r="31599" b="16335"/>
          <a:stretch/>
        </p:blipFill>
        <p:spPr>
          <a:xfrm>
            <a:off x="177525" y="1656675"/>
            <a:ext cx="5731651" cy="30854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7" name="Google Shape;167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8068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  <a:reflection endPos="30000" dist="38100" dir="5400000" fadeDir="5400012" sy="-100000" algn="bl" rotWithShape="0"/>
          </a:effectLst>
        </p:spPr>
      </p:pic>
      <p:sp>
        <p:nvSpPr>
          <p:cNvPr id="168" name="Google Shape;168;p28"/>
          <p:cNvSpPr txBox="1">
            <a:spLocks noGrp="1"/>
          </p:cNvSpPr>
          <p:nvPr>
            <p:ph type="title"/>
          </p:nvPr>
        </p:nvSpPr>
        <p:spPr>
          <a:xfrm>
            <a:off x="146900" y="3506725"/>
            <a:ext cx="8771400" cy="167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66"/>
              <a:t>We recommend that FCPS follow the optimization results of the schools that benefited from it to maximize their savings while reducing waste, which can lead to </a:t>
            </a:r>
            <a:r>
              <a:rPr lang="en" sz="2466" b="1"/>
              <a:t>$1,825,539.30</a:t>
            </a:r>
            <a:r>
              <a:rPr lang="en" sz="2466"/>
              <a:t> in savings</a:t>
            </a:r>
            <a:endParaRPr sz="2466"/>
          </a:p>
        </p:txBody>
      </p:sp>
      <p:sp>
        <p:nvSpPr>
          <p:cNvPr id="169" name="Google Shape;169;p28"/>
          <p:cNvSpPr txBox="1"/>
          <p:nvPr/>
        </p:nvSpPr>
        <p:spPr>
          <a:xfrm>
            <a:off x="146900" y="2952300"/>
            <a:ext cx="8771400" cy="66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>
                <a:solidFill>
                  <a:schemeClr val="dk1"/>
                </a:solidFill>
              </a:rPr>
              <a:t>Conclusion</a:t>
            </a:r>
            <a:endParaRPr sz="32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698</Words>
  <Application>Microsoft Office PowerPoint</Application>
  <PresentationFormat>On-screen Show (16:9)</PresentationFormat>
  <Paragraphs>103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8" baseType="lpstr">
      <vt:lpstr>Arial</vt:lpstr>
      <vt:lpstr>Simple Light</vt:lpstr>
      <vt:lpstr>Capstone Final Presentation</vt:lpstr>
      <vt:lpstr>Purpose</vt:lpstr>
      <vt:lpstr>PowerPoint Presentation</vt:lpstr>
      <vt:lpstr>PowerPoint Presentation</vt:lpstr>
      <vt:lpstr>PowerPoint Presentation</vt:lpstr>
      <vt:lpstr>Popularity</vt:lpstr>
      <vt:lpstr>Optimization</vt:lpstr>
      <vt:lpstr>Optimization:  Objective Function</vt:lpstr>
      <vt:lpstr>Optimization:  Linear Constraints</vt:lpstr>
      <vt:lpstr>Optimization:  Feasible Region</vt:lpstr>
      <vt:lpstr>Optimization: Results</vt:lpstr>
      <vt:lpstr>Optimization: Results</vt:lpstr>
      <vt:lpstr>Regression</vt:lpstr>
      <vt:lpstr>Time Series</vt:lpstr>
      <vt:lpstr>LSTM</vt:lpstr>
      <vt:lpstr> We recommend that FCPS follow the optimization results of the schools that benefited from it to maximize their savings while reducing waste, which can lead to $1,825,539.30 in savings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Crystal Kao</dc:creator>
  <cp:lastModifiedBy>Crystal Kao</cp:lastModifiedBy>
  <cp:revision>1</cp:revision>
  <dcterms:modified xsi:type="dcterms:W3CDTF">2025-12-03T00:56:57Z</dcterms:modified>
</cp:coreProperties>
</file>