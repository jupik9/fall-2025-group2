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763F33-0795-44CC-88BD-6A73F10627D1}">
  <a:tblStyle styleId="{73763F33-0795-44CC-88BD-6A73F1062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c8e56c0737d13bb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c8e56c0737d13bb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5c5a52a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5c5a52a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5c5a52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5c5a52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b84c68a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b84c68a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4f02b2665cf67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4f02b2665cf67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390d1ea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d390d1ea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68d547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68d547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5 mins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d390d1ea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d390d1ea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390d1eac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d390d1eac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d36389f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d36389f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5 mins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c0db11cc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c0db11cc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5 mins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c0db11c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c0db11c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8cef1e44005f32c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8cef1e44005f32c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3e92bb5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3e92bb5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68d547d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668d547d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68d547d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668d547d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cea752d78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cea752d78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68d547d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68d547d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cea752d7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cea752d78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cea752d7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cea752d78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ea752d78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cea752d78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4f02b2665cf678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4f02b2665cf678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275"/>
            <a:ext cx="9144000" cy="51480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82450" y="165770"/>
            <a:ext cx="3809100" cy="276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 b="1">
                <a:solidFill>
                  <a:srgbClr val="FFFFFF"/>
                </a:solidFill>
              </a:rPr>
              <a:t>Capstone Final</a:t>
            </a:r>
            <a:endParaRPr sz="4380" b="1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 b="1">
                <a:solidFill>
                  <a:srgbClr val="FFFFFF"/>
                </a:solidFill>
              </a:rPr>
              <a:t>Presentation</a:t>
            </a:r>
            <a:endParaRPr sz="4380" b="1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94088" y="3062538"/>
            <a:ext cx="3985800" cy="15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Jupiter Kang</a:t>
            </a:r>
            <a:endParaRPr>
              <a:solidFill>
                <a:srgbClr val="F1C23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Crystal Kao</a:t>
            </a:r>
            <a:endParaRPr>
              <a:solidFill>
                <a:srgbClr val="F1C23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Alonso Romero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Purpose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780225" y="1441900"/>
            <a:ext cx="53637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dirty="0"/>
              <a:t>Food waste in U.S. public schools results in 530,000 tons of food discarded annually, equalling $1.2 billion in losses. 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dirty="0"/>
              <a:t>Fairfax County Public Schools (FCPS) in Virginia seeks to address this issue by leveraging data-driven insights to optimize their food service operations.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dirty="0"/>
              <a:t>Data from March 2025 - May 2025 on all FCPS was provided</a:t>
            </a:r>
            <a:endParaRPr sz="14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 b="1" dirty="0"/>
              <a:t>Goal:</a:t>
            </a:r>
            <a:endParaRPr sz="1400" b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A recommendation list of foods in order to optimize the spending by creating a customized budget that is more efficient and data driven, with breakdowns by region, school level, and individual schools</a:t>
            </a:r>
            <a:r>
              <a:rPr lang="en" dirty="0"/>
              <a:t>.</a:t>
            </a:r>
          </a:p>
          <a:p>
            <a:pPr lvl="0" indent="-299085">
              <a:spcBef>
                <a:spcPts val="1200"/>
              </a:spcBef>
              <a:buSzPct val="100000"/>
              <a:buChar char="-"/>
            </a:pPr>
            <a:r>
              <a:rPr lang="en-US" sz="1500" b="1" dirty="0"/>
              <a:t>Conclusion:</a:t>
            </a:r>
          </a:p>
          <a:p>
            <a:pPr lvl="0" indent="0">
              <a:spcBef>
                <a:spcPts val="1200"/>
              </a:spcBef>
              <a:buNone/>
            </a:pPr>
            <a:r>
              <a:rPr lang="en-US" sz="1500" dirty="0"/>
              <a:t>The optimization model proposes </a:t>
            </a:r>
            <a:r>
              <a:rPr lang="en-US" sz="1500" b="1" dirty="0"/>
              <a:t>$1,825,539.30</a:t>
            </a:r>
            <a:r>
              <a:rPr lang="en-US" sz="1500" dirty="0"/>
              <a:t> in savings if items are acquired according to suggested quantities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825" y="10850"/>
            <a:ext cx="9144000" cy="646200"/>
          </a:xfrm>
          <a:prstGeom prst="rect">
            <a:avLst/>
          </a:prstGeom>
          <a:solidFill>
            <a:srgbClr val="00698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lt1"/>
                </a:solidFill>
              </a:rPr>
              <a:t>Data</a:t>
            </a:r>
            <a:endParaRPr sz="3200" b="1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0" y="1307400"/>
            <a:ext cx="42909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Data_breakfast.csv / Data_lunch.csv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Date Range: May 2025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 size: 191,757 rows / 20 columns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190 schools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411 distinct food items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Other data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data_breakfast_with_coordinates / lunch</a:t>
            </a:r>
            <a:endParaRPr/>
          </a:p>
          <a:p>
            <a:pPr marL="13716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Coordinate data, region, level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fcps_nutrition_values</a:t>
            </a:r>
            <a:endParaRPr/>
          </a:p>
          <a:p>
            <a:pPr marL="13716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Nutrition data for each item (calories, sugar, vitamins, etc.)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2022-2025 Fairfax County School Student Count</a:t>
            </a:r>
            <a:endParaRPr/>
          </a:p>
          <a:p>
            <a:pPr marL="13716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Count of students by school per school year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unit_costs.csv</a:t>
            </a:r>
            <a:endParaRPr/>
          </a:p>
          <a:p>
            <a:pPr marL="13716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Unit production cost for each item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575" y="1366750"/>
            <a:ext cx="4728899" cy="30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0"/>
            <a:ext cx="913589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166970"/>
            <a:ext cx="8619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Methodology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1311300"/>
            <a:ext cx="55821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Steps: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00"/>
              <a:buAutoNum type="arabicPeriod"/>
            </a:pPr>
            <a:r>
              <a:rPr lang="en" sz="2700">
                <a:solidFill>
                  <a:schemeClr val="dk2"/>
                </a:solidFill>
              </a:rPr>
              <a:t>Exploratory Data Analysis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AutoNum type="arabicPeriod"/>
            </a:pPr>
            <a:r>
              <a:rPr lang="en" sz="2700">
                <a:solidFill>
                  <a:schemeClr val="dk2"/>
                </a:solidFill>
              </a:rPr>
              <a:t>Popularity Analysis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AutoNum type="arabicPeriod"/>
            </a:pPr>
            <a:r>
              <a:rPr lang="en" sz="2700">
                <a:solidFill>
                  <a:schemeClr val="dk2"/>
                </a:solidFill>
              </a:rPr>
              <a:t>Optimization of Budget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AutoNum type="arabicPeriod"/>
            </a:pPr>
            <a:r>
              <a:rPr lang="en" sz="2700">
                <a:solidFill>
                  <a:schemeClr val="dk2"/>
                </a:solidFill>
              </a:rPr>
              <a:t>Regression for Predictability</a:t>
            </a:r>
            <a:endParaRPr sz="2700">
              <a:solidFill>
                <a:schemeClr val="dk2"/>
              </a:solidFill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AutoNum type="arabicPeriod"/>
            </a:pPr>
            <a:r>
              <a:rPr lang="en" sz="2700">
                <a:solidFill>
                  <a:schemeClr val="dk2"/>
                </a:solidFill>
              </a:rPr>
              <a:t>Time series analysis and LSTM</a:t>
            </a:r>
            <a:endParaRPr sz="2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825" y="10850"/>
            <a:ext cx="9144000" cy="646200"/>
          </a:xfrm>
          <a:prstGeom prst="rect">
            <a:avLst/>
          </a:prstGeom>
          <a:solidFill>
            <a:srgbClr val="00698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lt1"/>
                </a:solidFill>
              </a:rPr>
              <a:t>Exploratory Data Analysis</a:t>
            </a:r>
            <a:endParaRPr sz="3200" b="1">
              <a:solidFill>
                <a:schemeClr val="lt1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750" y="987054"/>
            <a:ext cx="3298473" cy="195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975" y="987050"/>
            <a:ext cx="3298468" cy="19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3751" y="3058976"/>
            <a:ext cx="3298473" cy="195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976" y="3058976"/>
            <a:ext cx="3298473" cy="195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243875"/>
            <a:ext cx="5463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Popularity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999575"/>
            <a:ext cx="5463300" cy="41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Based on consumption and amount left over/discarded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Consumption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Used to rank popularity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(Total Offered - Total Leftover) / Total Offered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Results:</a:t>
            </a:r>
            <a:endParaRPr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b="1"/>
              <a:t>Breakfast: </a:t>
            </a:r>
            <a:r>
              <a:rPr lang="en"/>
              <a:t>Apple Juice, Orange Tangerine Juice, Mini Maple Pancakes, 1% White Milk, Bagel</a:t>
            </a:r>
            <a:endParaRPr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b="1"/>
              <a:t>Lunch: </a:t>
            </a:r>
            <a:r>
              <a:rPr lang="en"/>
              <a:t>Fat Free Chocolate Milk, Lettuce Blend Salad Mix, Ketchup Packets, Apple Slices, Ranch Dressing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Leftover Rate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Identifies which items with the highest waste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Total Leftover / Total Offered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Results</a:t>
            </a:r>
            <a:endParaRPr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b="1"/>
              <a:t>Breakfast: </a:t>
            </a:r>
            <a:r>
              <a:rPr lang="en"/>
              <a:t>Fat Free Chocolate Milk (98.83%), Cereal Cinnamon Toasters (60.26%), Fat Free White Milk (53.49%)</a:t>
            </a:r>
            <a:endParaRPr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b="1"/>
              <a:t>Lunch: </a:t>
            </a:r>
            <a:r>
              <a:rPr lang="en"/>
              <a:t>Fat Free White Milk (60.63%), Lactose Free Milk (50.90%), 1% White Milk (50.83%)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-9525"/>
            <a:ext cx="913589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166970"/>
            <a:ext cx="8619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Regression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232100"/>
            <a:ext cx="5487000" cy="39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Dataset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data_breakfast_with_coordinates.csv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data_lunch_with_coordinates.csv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School_Regions.geojson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2022-2025 Fairfax County School Student Count</a:t>
            </a:r>
            <a:endParaRPr sz="1210"/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Method - OLS</a:t>
            </a:r>
            <a:endParaRPr sz="1210"/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Dependent variable: production_cost</a:t>
            </a:r>
            <a:endParaRPr sz="1210"/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Independent variables: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planned_total, served_total, discarded_total, left_over_total, student_count</a:t>
            </a:r>
            <a:endParaRPr sz="1210"/>
          </a:p>
          <a:p>
            <a:pPr marL="914400" lvl="1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10"/>
              <a:buChar char="-"/>
            </a:pPr>
            <a:r>
              <a:rPr lang="en" sz="1210"/>
              <a:t>Using more operational variables to reduce the effect of multicollinearity</a:t>
            </a:r>
            <a:endParaRPr sz="12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0"/>
            <a:ext cx="913589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166970"/>
            <a:ext cx="8619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Regression</a:t>
            </a:r>
            <a:endParaRPr/>
          </a:p>
        </p:txBody>
      </p:sp>
      <p:pic>
        <p:nvPicPr>
          <p:cNvPr id="109" name="Google Shape;109;p20" title="region2.png"/>
          <p:cNvPicPr preferRelativeResize="0"/>
          <p:nvPr/>
        </p:nvPicPr>
        <p:blipFill rotWithShape="1">
          <a:blip r:embed="rId4">
            <a:alphaModFix/>
          </a:blip>
          <a:srcRect t="6716"/>
          <a:stretch/>
        </p:blipFill>
        <p:spPr>
          <a:xfrm>
            <a:off x="2645679" y="1980625"/>
            <a:ext cx="6022073" cy="234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3086100" y="1759188"/>
            <a:ext cx="2428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2"/>
                </a:solidFill>
              </a:rPr>
              <a:t>Actual VS predicted (Production Cost (Region: 2))</a:t>
            </a:r>
            <a:endParaRPr sz="700" b="1">
              <a:solidFill>
                <a:schemeClr val="dk2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095850" y="1744900"/>
            <a:ext cx="25719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2"/>
                </a:solidFill>
              </a:rPr>
              <a:t>Residuals VS predicted (Production Cost (Region: 2))</a:t>
            </a:r>
            <a:endParaRPr sz="700" b="1">
              <a:solidFill>
                <a:schemeClr val="dk2"/>
              </a:solidFill>
            </a:endParaRPr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219075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{73763F33-0795-44CC-88BD-6A73F10627D1}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Adj R^2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2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0.268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0"/>
            <a:ext cx="913589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166970"/>
            <a:ext cx="8619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Regression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32100"/>
            <a:ext cx="5487000" cy="39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-"/>
            </a:pPr>
            <a:r>
              <a:rPr lang="en">
                <a:solidFill>
                  <a:srgbClr val="999999"/>
                </a:solidFill>
              </a:rPr>
              <a:t>Dataset</a:t>
            </a:r>
            <a:endParaRPr>
              <a:solidFill>
                <a:srgbClr val="999999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-"/>
            </a:pPr>
            <a:r>
              <a:rPr lang="en">
                <a:solidFill>
                  <a:srgbClr val="999999"/>
                </a:solidFill>
              </a:rPr>
              <a:t>Method - OLS</a:t>
            </a:r>
            <a:endParaRPr>
              <a:solidFill>
                <a:srgbClr val="999999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-"/>
            </a:pPr>
            <a:r>
              <a:rPr lang="en">
                <a:solidFill>
                  <a:srgbClr val="999999"/>
                </a:solidFill>
              </a:rPr>
              <a:t>Dependent variable: production_cost</a:t>
            </a:r>
            <a:endParaRPr>
              <a:solidFill>
                <a:srgbClr val="999999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-"/>
            </a:pPr>
            <a:r>
              <a:rPr lang="en">
                <a:solidFill>
                  <a:srgbClr val="999999"/>
                </a:solidFill>
              </a:rPr>
              <a:t>Independent variables</a:t>
            </a:r>
            <a:endParaRPr>
              <a:solidFill>
                <a:srgbClr val="999999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Future pathway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Add ratio variables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served_total / planned_total: execution rate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Normalizing scalers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Cost per meal 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Ratio based factor for better prediction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243875"/>
            <a:ext cx="5463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Analysis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22776" y="999575"/>
            <a:ext cx="5463300" cy="41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Dataset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sales.csv</a:t>
            </a:r>
            <a:endParaRPr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Stationarity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Rolling mean and variance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ADF &amp; KPSS test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Differencing</a:t>
            </a:r>
            <a:endParaRPr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Order for AR, MA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Non-seasonal: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p=q=d=1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Seasonal: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P=Q=D=1</a:t>
            </a:r>
            <a:endParaRPr/>
          </a:p>
          <a:p>
            <a:pPr marL="1371600" lvl="2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S=7 for weekly pattern</a:t>
            </a: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Lack of data points</a:t>
            </a:r>
            <a:endParaRPr/>
          </a:p>
        </p:txBody>
      </p:sp>
      <p:pic>
        <p:nvPicPr>
          <p:cNvPr id="127" name="Google Shape;127;p22" title="rolling mean v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125" y="1333500"/>
            <a:ext cx="5413376" cy="32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187875" y="41250"/>
            <a:ext cx="5463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SARIMA model</a:t>
            </a:r>
            <a:endParaRPr/>
          </a:p>
        </p:txBody>
      </p:sp>
      <p:pic>
        <p:nvPicPr>
          <p:cNvPr id="134" name="Google Shape;134;p23" title="sari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63" y="1311300"/>
            <a:ext cx="7353276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140250" y="-25425"/>
            <a:ext cx="5463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Neural network</a:t>
            </a:r>
            <a:endParaRPr/>
          </a:p>
        </p:txBody>
      </p:sp>
      <p:pic>
        <p:nvPicPr>
          <p:cNvPr id="141" name="Google Shape;141;p24" title="LST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848" y="1339875"/>
            <a:ext cx="6625800" cy="353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/>
        </p:nvSpPr>
        <p:spPr>
          <a:xfrm>
            <a:off x="-134250" y="809625"/>
            <a:ext cx="2441100" cy="24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look_back = 7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Using previous 7 days of data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forecast_horizontal = 2</a:t>
            </a:r>
            <a:endParaRPr sz="1200">
              <a:solidFill>
                <a:schemeClr val="dk2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2-step ahead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0"/>
            <a:ext cx="913589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166970"/>
            <a:ext cx="8619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</a:rPr>
              <a:t>Optimization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232100"/>
            <a:ext cx="5487000" cy="39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Mixed-Integer Linear Programming (MILP)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Mathematical method used to determine the best possible outcome where the objective and constraints are linear but the variables </a:t>
            </a:r>
            <a:r>
              <a:rPr lang="en" sz="1400" b="1"/>
              <a:t>must be integer values.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Components of the model: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b="1"/>
              <a:t>Decision Variables: </a:t>
            </a:r>
            <a:r>
              <a:rPr lang="en" sz="1400"/>
              <a:t>The unknown quantities that the model determines to solve the problem. Represents discrete counts and cannot be fractions.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b="1"/>
              <a:t>Objective Function: </a:t>
            </a:r>
            <a:r>
              <a:rPr lang="en" sz="1400"/>
              <a:t>Linear mathematical formula that defines the goal of the model.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b="1"/>
              <a:t>Linear Constraints: </a:t>
            </a:r>
            <a:r>
              <a:rPr lang="en" sz="1400"/>
              <a:t>Restrictions or logical limits placed on the decision variables.</a:t>
            </a:r>
            <a:endParaRPr sz="14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b="1"/>
              <a:t>Feasible Region: </a:t>
            </a:r>
            <a:r>
              <a:rPr lang="en" sz="1400"/>
              <a:t>Set of all possible solutions that satisfies every constraint in the model.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Optimization: </a:t>
            </a:r>
            <a:endParaRPr sz="32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Decision Variables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093125" y="1460000"/>
            <a:ext cx="47352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-"/>
            </a:pPr>
            <a:r>
              <a:rPr lang="en" sz="2100" b="1" u="sng">
                <a:solidFill>
                  <a:schemeClr val="dk2"/>
                </a:solidFill>
              </a:rPr>
              <a:t>“How many food items do we produce?”</a:t>
            </a:r>
            <a:endParaRPr sz="2100" b="1" u="sng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The variable that the MILP solver is trying to figure out.</a:t>
            </a:r>
            <a:endParaRPr sz="2100">
              <a:solidFill>
                <a:schemeClr val="dk2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Given:</a:t>
            </a:r>
            <a:endParaRPr sz="2100">
              <a:solidFill>
                <a:schemeClr val="dk2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Goal: Minimize Cost + Waste</a:t>
            </a:r>
            <a:endParaRPr sz="2100">
              <a:solidFill>
                <a:schemeClr val="dk2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-"/>
            </a:pPr>
            <a:r>
              <a:rPr lang="en" sz="2100">
                <a:solidFill>
                  <a:schemeClr val="dk2"/>
                </a:solidFill>
              </a:rPr>
              <a:t>Constraints: Budgetary, Production, Integer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Optimization: </a:t>
            </a:r>
            <a:endParaRPr sz="32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Objective Function</a:t>
            </a:r>
            <a:endParaRPr sz="3200" b="1">
              <a:solidFill>
                <a:srgbClr val="FFFFFF"/>
              </a:solidFill>
            </a:endParaRPr>
          </a:p>
        </p:txBody>
      </p:sp>
      <p:pic>
        <p:nvPicPr>
          <p:cNvPr id="163" name="Google Shape;163;p27" title="Screenshot 2025-12-02 at 7.22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263" y="1247150"/>
            <a:ext cx="4017275" cy="9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3721413" y="2224050"/>
            <a:ext cx="5403000" cy="27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Goal to make the total Z as small as possible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Double summation: iterating through schools and meal types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Cost: Unit production cost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Waste Penalty: Adds a secondary cost to every unit produced, mathematically inflates the cost, discouraging overproduction of high waste items even if their base cost is low</a:t>
            </a:r>
            <a:endParaRPr sz="1600">
              <a:solidFill>
                <a:schemeClr val="dk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Lambda: 0.1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Decision Variable: Quantity of items to produce for school i for meal type j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Optimization: </a:t>
            </a:r>
            <a:endParaRPr sz="32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Linear Constraints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3866875" y="1331600"/>
            <a:ext cx="5048100" cy="3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Financial Constraint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Enforces a specific budget range for each individual school. Prevents the model from “starving” one school to feed another just to save money</a:t>
            </a:r>
            <a:endParaRPr sz="1700">
              <a:solidFill>
                <a:schemeClr val="dk2"/>
              </a:solidFill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-"/>
            </a:pPr>
            <a:r>
              <a:rPr lang="en" sz="1700">
                <a:solidFill>
                  <a:schemeClr val="dk2"/>
                </a:solidFill>
              </a:rPr>
              <a:t>Overall Annual Budget: $139,144,760</a:t>
            </a:r>
            <a:endParaRPr sz="2200">
              <a:solidFill>
                <a:schemeClr val="dk2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Production Bounds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Prevents the model to produce unrealistic amounts, must stay with a range based on historical demand</a:t>
            </a:r>
            <a:endParaRPr sz="1700">
              <a:solidFill>
                <a:schemeClr val="dk2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Integer Constraint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Prevents solver from returning fractions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Optimization: </a:t>
            </a:r>
            <a:endParaRPr sz="32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Feasible Region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3866875" y="1331600"/>
            <a:ext cx="5048100" cy="3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Financial Constraint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The total cost must be less than the school’s allocated budget</a:t>
            </a:r>
            <a:endParaRPr sz="1700">
              <a:solidFill>
                <a:schemeClr val="dk2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Production Bounds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Size-based production bounds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For example: For 1000-1499 =</a:t>
            </a:r>
            <a:endParaRPr sz="170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(0.90, 1.10)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The model cannot produce fewer than 90 meals or more than 110 meals for example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2307"/>
            <a:ext cx="9144000" cy="5148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780225" y="0"/>
            <a:ext cx="5048100" cy="10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Optimization: </a:t>
            </a:r>
            <a:endParaRPr sz="32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</a:rPr>
              <a:t>Feasible Region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3866875" y="1331600"/>
            <a:ext cx="5048100" cy="3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Integrality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Forces the solution to round up from one whole number to the next, ignoring all decimals</a:t>
            </a:r>
            <a:endParaRPr sz="17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n" sz="1700">
                <a:solidFill>
                  <a:schemeClr val="dk2"/>
                </a:solidFill>
              </a:rPr>
              <a:t>Branch-and-Cut Algorithm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86" name="Google Shape;186;p30" title="Screenshot 2025-12-02 at 8.35.2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700" y="2832900"/>
            <a:ext cx="3464726" cy="20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148925"/>
            <a:ext cx="54633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50"/>
              <a:t>Optimization: Results</a:t>
            </a:r>
            <a:endParaRPr sz="2850"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61500" y="3823175"/>
            <a:ext cx="53637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Financial Results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Baseline (Actual) Annual Cost: $48,936,842.30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Optimized Annual Food Cost:   $47,111,303.00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b="1"/>
              <a:t>Annual Savings:		       $  1,825,539.30</a:t>
            </a:r>
            <a:endParaRPr b="1"/>
          </a:p>
        </p:txBody>
      </p:sp>
      <p:pic>
        <p:nvPicPr>
          <p:cNvPr id="194" name="Google Shape;194;p31" title="overall_savings_bar_chart_base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049" y="1051050"/>
            <a:ext cx="4567050" cy="270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2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0" y="836475"/>
            <a:ext cx="4991175" cy="286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 title="Screenshot 2025-12-02 at 8.40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825" y="1422600"/>
            <a:ext cx="3908399" cy="36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0" y="0"/>
            <a:ext cx="9144000" cy="755700"/>
          </a:xfrm>
          <a:prstGeom prst="rect">
            <a:avLst/>
          </a:prstGeom>
          <a:solidFill>
            <a:srgbClr val="00698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</p:txBody>
      </p:sp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50">
                <a:solidFill>
                  <a:schemeClr val="lt1"/>
                </a:solidFill>
              </a:rPr>
              <a:t>Optimization: Results - Savings Analysis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140850" y="3621300"/>
            <a:ext cx="4431300" cy="13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Actual - Optimized = Savings/loss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rgbClr val="6AA84F"/>
                </a:solidFill>
              </a:rPr>
              <a:t>130</a:t>
            </a:r>
            <a:r>
              <a:rPr lang="en" sz="1800">
                <a:solidFill>
                  <a:schemeClr val="dk2"/>
                </a:solidFill>
              </a:rPr>
              <a:t> Schools saving, </a:t>
            </a:r>
            <a:r>
              <a:rPr lang="en" sz="1800">
                <a:solidFill>
                  <a:srgbClr val="CC0000"/>
                </a:solidFill>
              </a:rPr>
              <a:t>60</a:t>
            </a:r>
            <a:r>
              <a:rPr lang="en" sz="1800">
                <a:solidFill>
                  <a:schemeClr val="dk2"/>
                </a:solidFill>
              </a:rPr>
              <a:t> at a loss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Region with loss: Region 4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Lake Braddock, Robinson Sec.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 title="Screenshot 2025-12-02 at 8.45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750" y="798775"/>
            <a:ext cx="6725627" cy="43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/>
        </p:nvSpPr>
        <p:spPr>
          <a:xfrm>
            <a:off x="0" y="0"/>
            <a:ext cx="9144000" cy="755700"/>
          </a:xfrm>
          <a:prstGeom prst="rect">
            <a:avLst/>
          </a:prstGeom>
          <a:solidFill>
            <a:srgbClr val="00698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50">
                <a:solidFill>
                  <a:schemeClr val="lt1"/>
                </a:solidFill>
              </a:rPr>
              <a:t>Optimization: Results - Recommendation</a:t>
            </a:r>
            <a:endParaRPr sz="2850">
              <a:solidFill>
                <a:schemeClr val="lt1"/>
              </a:solidFill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59600" y="1004875"/>
            <a:ext cx="2318100" cy="3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Generated from our UI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Provides the quantity count for specified items for the month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Covers both breakfast and lunch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4" descr="Fresh vegetables, measuring tape and paper notepad on wooden table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450" y="1827399"/>
            <a:ext cx="4870400" cy="324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 txBox="1"/>
          <p:nvPr/>
        </p:nvSpPr>
        <p:spPr>
          <a:xfrm>
            <a:off x="825" y="10850"/>
            <a:ext cx="9144000" cy="1816500"/>
          </a:xfrm>
          <a:prstGeom prst="rect">
            <a:avLst/>
          </a:prstGeom>
          <a:solidFill>
            <a:srgbClr val="00698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lt1"/>
                </a:solidFill>
              </a:rPr>
              <a:t>UI Demo</a:t>
            </a:r>
            <a:endParaRPr sz="3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80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146900" y="3235800"/>
            <a:ext cx="8771400" cy="12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6"/>
              <a:t>We recommend that FCPS follow the optimization results to maximize their savings while reducing waste, which can lead to </a:t>
            </a:r>
            <a:r>
              <a:rPr lang="en" sz="2466" b="1"/>
              <a:t>$1,825,539.30</a:t>
            </a:r>
            <a:r>
              <a:rPr lang="en" sz="2466"/>
              <a:t> in savings</a:t>
            </a:r>
            <a:endParaRPr sz="2466"/>
          </a:p>
        </p:txBody>
      </p:sp>
      <p:sp>
        <p:nvSpPr>
          <p:cNvPr id="224" name="Google Shape;224;p35"/>
          <p:cNvSpPr txBox="1"/>
          <p:nvPr/>
        </p:nvSpPr>
        <p:spPr>
          <a:xfrm>
            <a:off x="146900" y="2952300"/>
            <a:ext cx="87714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Conclusion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On-screen Show (16:9)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Simple Light</vt:lpstr>
      <vt:lpstr>Capstone Final Presentation</vt:lpstr>
      <vt:lpstr>Purpose</vt:lpstr>
      <vt:lpstr>PowerPoint Presentation</vt:lpstr>
      <vt:lpstr>PowerPoint Presentation</vt:lpstr>
      <vt:lpstr>PowerPoint Presentation</vt:lpstr>
      <vt:lpstr>Popularity</vt:lpstr>
      <vt:lpstr>Regression</vt:lpstr>
      <vt:lpstr>Regression</vt:lpstr>
      <vt:lpstr>Regression</vt:lpstr>
      <vt:lpstr>Time Series Analysis</vt:lpstr>
      <vt:lpstr>SARIMA model</vt:lpstr>
      <vt:lpstr>LSTM Neural network</vt:lpstr>
      <vt:lpstr>Optimization</vt:lpstr>
      <vt:lpstr>Optimization:  Decision Variables</vt:lpstr>
      <vt:lpstr>Optimization:  Objective Function</vt:lpstr>
      <vt:lpstr>Optimization:  Linear Constraints</vt:lpstr>
      <vt:lpstr>Optimization:  Feasible Region</vt:lpstr>
      <vt:lpstr>Optimization:  Feasible Region</vt:lpstr>
      <vt:lpstr>Optimization: Results</vt:lpstr>
      <vt:lpstr>Optimization: Results - Savings Analysis</vt:lpstr>
      <vt:lpstr>Optimization: Results - Recommendation</vt:lpstr>
      <vt:lpstr>PowerPoint Presentation</vt:lpstr>
      <vt:lpstr> We recommend that FCPS follow the optimization results to maximize their savings while reducing waste, which can lead to $1,825,539.30 in savings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Crystal Kao</dc:creator>
  <cp:lastModifiedBy>Crystal Kao</cp:lastModifiedBy>
  <cp:revision>1</cp:revision>
  <dcterms:modified xsi:type="dcterms:W3CDTF">2025-12-03T23:50:57Z</dcterms:modified>
</cp:coreProperties>
</file>